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JetBrains Mono"/>
      <ns0:bold ns1:id="rIdFont19"/>
      <ns0:regular ns1:id="rIdFont20"/>
    </ns0:embeddedFont>
    <ns0:embeddedFont>
      <ns0:font typeface="Plus Jakarta Sans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4e0f5c96-8041-495d-b34d-4e3fd1a54ffa.fntdata" /><ns0:Relationship Id="rIdFont20" Type="http://schemas.openxmlformats.org/officeDocument/2006/relationships/font" Target="fonts/2e97c125-1c8a-4612-a41d-417ab2bbfc0f.fntdata" /><ns0:Relationship Id="rIdFont21" Type="http://schemas.openxmlformats.org/officeDocument/2006/relationships/font" Target="fonts/e68e726e-47f0-44e5-afd4-284f9c87afba.fntdata" /><ns0:Relationship Id="rIdFont22" Type="http://schemas.openxmlformats.org/officeDocument/2006/relationships/font" Target="fonts/d8ff25f0-d753-427a-80a3-2dae3a12b03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95950"/>
            <a:ext cx="10668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58300" y="566737"/>
            <a:ext cx="2171700" cy="276225"/>
          </a:xfrm>
          <a:prstGeom prst="roundRect">
            <a:avLst>
              <a:gd name="adj" fmla="val 206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6959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619125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5" y="6176962"/>
            <a:ext cx="1619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1725" y="6176962"/>
            <a:ext cx="14287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91650" y="623887"/>
            <a:ext cx="2000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JetBrains Mono"/>
              </a:rPr>
              <a:t>SYSTEMATIC ML PIPELINE •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173634"/>
            <a:ext cx="10953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EA5E9"/>
                </a:solidFill>
                <a:latin typeface="Plus Jakarta Sans"/>
              </a:rPr>
              <a:t>COMPETITIVE MACHINE LEARNING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07009"/>
            <a:ext cx="930116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Systematic Modeling From EDA to Ensemble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855690"/>
            <a:ext cx="7334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Plus Jakarta Sans"/>
              </a:rPr>
              <a:t>An evidence-driven, 15-step competitive pipeline built on leakage-free validation, hypothesis-driven feature engineering, and fine blend optimization.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609600"/>
            <a:ext cx="262532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JetBrains Mono"/>
              </a:rPr>
              <a:t>MULTIVERSE OF MADNESS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115050"/>
            <a:ext cx="13430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Gurukiran K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2175" y="6115050"/>
            <a:ext cx="16906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Girish Gowda G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0" y="6172200"/>
            <a:ext cx="1607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Plus Jakarta Sans"/>
              </a:rPr>
              <a:t>Multi-Model Boosters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0800" y="6172200"/>
            <a:ext cx="1524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Plus Jakarta Sans"/>
              </a:rPr>
              <a:t>Stratified OOF Splits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0850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90850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90850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990850"/>
            <a:ext cx="2600325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90850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2990850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2990850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2990850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EXECUTIVE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Four-Stage Systematic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295650"/>
            <a:ext cx="2726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STAGE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552825"/>
            <a:ext cx="28628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Auditing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848100"/>
            <a:ext cx="2726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Steps 1–5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4133850"/>
            <a:ext cx="22764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Zero schema corruption &amp; balance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9975" y="3295650"/>
            <a:ext cx="2726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STAGE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9975" y="3552825"/>
            <a:ext cx="28628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Raw Baselines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9975" y="3848100"/>
            <a:ext cx="2726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Steps 6–7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975" y="4133850"/>
            <a:ext cx="22764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Empirical reference point established.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5650"/>
            <a:ext cx="2726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STAGE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52825"/>
            <a:ext cx="28628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Feature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8100"/>
            <a:ext cx="2726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Steps 8–12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33850"/>
            <a:ext cx="22764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Target encoding and feature interactions.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1625" y="3295650"/>
            <a:ext cx="2726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STAGE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1625" y="3552825"/>
            <a:ext cx="28628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Ensemble &amp; 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1625" y="3848100"/>
            <a:ext cx="2726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Steps 13–15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1625" y="4133850"/>
            <a:ext cx="22764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OOF fine blend &amp; depth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0350"/>
            <a:ext cx="53149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886075"/>
            <a:ext cx="531495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3848100"/>
            <a:ext cx="470535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72250" y="3933825"/>
            <a:ext cx="470535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848100"/>
            <a:ext cx="28575" cy="781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72250" y="3933825"/>
            <a:ext cx="28575" cy="609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19437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205162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01 • STEPS 1 &amp;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 Ingestion &amp; Integrity Auditing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95675"/>
            <a:ext cx="588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Loaded train, test, and sample submission files simultaneously.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3581400"/>
            <a:ext cx="561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Verified 21,000 train rows against 9,000 blind test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3105150"/>
            <a:ext cx="43005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Step 1: Dataset &amp; Format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3962400"/>
            <a:ext cx="5464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Why verify submission format first?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4171950"/>
            <a:ext cx="44672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Guarantees zero disqualifications from schema or column misalignments.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6100" y="3190875"/>
            <a:ext cx="49881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Step 2: Distribution &amp; Volume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3225" y="4048125"/>
            <a:ext cx="54387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Core Empirical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225" y="4257675"/>
            <a:ext cx="54387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Identified missing values, duplicates, and feature data-type schemas.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7525"/>
            <a:ext cx="3530649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057525"/>
            <a:ext cx="3530649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57525"/>
            <a:ext cx="3530649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01 • STEPS 3, 4 &amp;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Target Profiling &amp; Relationship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324225"/>
            <a:ext cx="384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STEP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581400"/>
            <a:ext cx="403390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Target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905250"/>
            <a:ext cx="3841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Evaluated class balance &amp; skewness.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00525"/>
            <a:ext cx="3841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Dictated stratified validation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349" y="3324225"/>
            <a:ext cx="384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STEP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3581400"/>
            <a:ext cx="403390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Correlation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3905250"/>
            <a:ext cx="3841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Tracked linear and non-linear associations.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49" y="4200525"/>
            <a:ext cx="3841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Exploration tool, not blind dropping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3324225"/>
            <a:ext cx="384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STEP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499" y="3581400"/>
            <a:ext cx="3911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Categorical Profiling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3905250"/>
            <a:ext cx="3841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Analyzed default rates across subsets.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499" y="4200525"/>
            <a:ext cx="3841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Uncovered non-uniform category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1325"/>
            <a:ext cx="5697735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50235" y="2933700"/>
            <a:ext cx="4932164" cy="1866900"/>
          </a:xfrm>
          <a:prstGeom prst="roundRect">
            <a:avLst>
              <a:gd name="adj" fmla="val 612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560" y="4343400"/>
            <a:ext cx="133350" cy="13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02 • STEPS 6 &amp;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Tri-Algorithm Benchmark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248025"/>
            <a:ext cx="67781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Gradient-Boosting Implementations Benchmarked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4560" y="3248025"/>
            <a:ext cx="522743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WHY BENCHMARK 3 MODELS ON RAW FEATURES?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4560" y="3476625"/>
            <a:ext cx="439876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Establishes an empirical baseline to verify that future feature engineering yields genuine performance lift rather than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4560" y="4314825"/>
            <a:ext cx="5227439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369A1"/>
                </a:solidFill>
                <a:latin typeface="Plus Jakarta Sans"/>
              </a:rPr>
              <a:t>Prevents premature hyperparameter optimization.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19500"/>
            <a:ext cx="64554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284C7"/>
                </a:solidFill>
                <a:latin typeface="Plus Jakarta Sans"/>
              </a:rPr>
              <a:t>CatBoost: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Symmetric oblivious trees with ordered boosting.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952875"/>
            <a:ext cx="64554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284C7"/>
                </a:solidFill>
                <a:latin typeface="Plus Jakarta Sans"/>
              </a:rPr>
              <a:t>LightGBM: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Fast histogram-based, leaf-wise split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286250"/>
            <a:ext cx="64554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284C7"/>
                </a:solidFill>
                <a:latin typeface="Plus Jakarta Sans"/>
              </a:rPr>
              <a:t>XGBoost: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Depth-wise trees with second-order gradient expansion.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5587"/>
            <a:ext cx="3505200" cy="2105025"/>
          </a:xfrm>
          <a:prstGeom prst="roundRect">
            <a:avLst>
              <a:gd name="adj" fmla="val 54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95587"/>
            <a:ext cx="3505200" cy="2105025"/>
          </a:xfrm>
          <a:prstGeom prst="roundRect">
            <a:avLst>
              <a:gd name="adj" fmla="val 54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95587"/>
            <a:ext cx="3505200" cy="2105025"/>
          </a:xfrm>
          <a:prstGeom prst="roundRect">
            <a:avLst>
              <a:gd name="adj" fmla="val 54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038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003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310038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205162"/>
            <a:ext cx="1333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205162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050" y="3205162"/>
            <a:ext cx="19050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03 • STEP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Hypothesis-Driven 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633787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Domain Ratios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948112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Calculated meaningful financial and operational ratios.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24362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Exposes latent scale dynamics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33787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Feature Crosses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48112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Synthesized multi-column categorical combinations.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24362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Captures non-linear intersections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633787"/>
            <a:ext cx="388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Aggregation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3948112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Derived group-level mean and deviation statistics.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4424362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Contextualizes individual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6550"/>
            <a:ext cx="53149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05100"/>
            <a:ext cx="531495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72250" y="4210050"/>
            <a:ext cx="4705350" cy="514350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2250" y="4210050"/>
            <a:ext cx="28575" cy="514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91025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03 • STEPS 9 &amp;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Validation Lift &amp; Empirical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1350"/>
            <a:ext cx="5881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STEP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9475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CatBoost + Engineered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719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Re-trained on augmented features and verified against the Step 7 baseline to guarantee positive CV lift.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3009900"/>
            <a:ext cx="5619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STEP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3248025"/>
            <a:ext cx="5619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Feature Importance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360045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Identified top contributors to model splits and pruned uninformative features to reduce tree variance.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500"/>
            <a:ext cx="2845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Positive Signal Validation 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4175" y="4305300"/>
            <a:ext cx="5457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2400E"/>
                </a:solidFill>
                <a:latin typeface="Plus Jakarta Sans"/>
              </a:rPr>
              <a:t>Crucial Defense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175" y="4476750"/>
            <a:ext cx="5457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78350F"/>
                </a:solidFill>
                <a:latin typeface="Plus Jakarta Sans"/>
              </a:rPr>
              <a:t>Feature importance proves predictive utility, not underlying causation.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5137"/>
            <a:ext cx="53149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3005137"/>
            <a:ext cx="53149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3375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333750"/>
            <a:ext cx="17145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03 • STEPS 11 &amp;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Native Encoding &amp; Algorithmic Diversity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6236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Leveraged native target encoding with ordered target statistics to prevent data leakage during splits.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2912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Zero sparse matrix explosion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66236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Trained leaf-wise gradient boosting on the engineered feature space for rapid non-symmetric splits.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4252912"/>
            <a:ext cx="561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Provides orthogonal error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309937"/>
            <a:ext cx="361295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Step 11: Categorical CatBoost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8950" y="3309937"/>
            <a:ext cx="323790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Step 12: LightGBM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81475"/>
            <a:ext cx="10972800" cy="628650"/>
          </a:xfrm>
          <a:prstGeom prst="roundRect">
            <a:avLst>
              <a:gd name="adj" fmla="val 1515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86075"/>
            <a:ext cx="2042219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42319" y="2886075"/>
            <a:ext cx="2042219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75039" y="2886075"/>
            <a:ext cx="2042219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07758" y="2886075"/>
            <a:ext cx="2042219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40478" y="2886075"/>
            <a:ext cx="2042219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96475" y="4381500"/>
            <a:ext cx="144780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04 • STEP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Leakage-Free Out-Of-Fold Ensembling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405312"/>
            <a:ext cx="6548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Result: 100% of training data receives an unbiased out-of-fold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0775" y="4419600"/>
            <a:ext cx="131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Plus Jakarta Sans"/>
              </a:rPr>
              <a:t>Zero Target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78" y="3124200"/>
            <a:ext cx="195746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JetBrains Mono"/>
              </a:rPr>
              <a:t>FOLD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78" y="3343275"/>
            <a:ext cx="195746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Train: 2, 3, 4,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78" y="3562350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A34A"/>
                </a:solidFill>
                <a:latin typeface="Plus Jakarta Sans"/>
              </a:rPr>
              <a:t>Predict Fold 1 (Blind)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4698" y="3124200"/>
            <a:ext cx="195746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JetBrains Mono"/>
              </a:rPr>
              <a:t>FOLD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4698" y="3343275"/>
            <a:ext cx="195746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Train: 1, 3, 4,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4698" y="3562350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A34A"/>
                </a:solidFill>
                <a:latin typeface="Plus Jakarta Sans"/>
              </a:rPr>
              <a:t>Predict Fold 2 (Blind)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7417" y="3124200"/>
            <a:ext cx="195746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JetBrains Mono"/>
              </a:rPr>
              <a:t>FOLD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7417" y="3343275"/>
            <a:ext cx="195746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Train: 1, 2, 4,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417" y="3562350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A34A"/>
                </a:solidFill>
                <a:latin typeface="Plus Jakarta Sans"/>
              </a:rPr>
              <a:t>Predict Fold 3 (Blind)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0137" y="3124200"/>
            <a:ext cx="195746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JetBrains Mono"/>
              </a:rPr>
              <a:t>FOLD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0137" y="3343275"/>
            <a:ext cx="195746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Train: 1, 2, 3,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137" y="3562350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A34A"/>
                </a:solidFill>
                <a:latin typeface="Plus Jakarta Sans"/>
              </a:rPr>
              <a:t>Predict Fold 4 (Blind)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856" y="3124200"/>
            <a:ext cx="195746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JetBrains Mono"/>
              </a:rPr>
              <a:t>FOLD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856" y="3343275"/>
            <a:ext cx="195746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Train: 1, 2, 3,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856" y="3562350"/>
            <a:ext cx="19574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A34A"/>
                </a:solidFill>
                <a:latin typeface="Plus Jakarta Sans"/>
              </a:rPr>
              <a:t>Predict Fold 5 (Blind)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7500"/>
            <a:ext cx="5305425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847975"/>
            <a:ext cx="5324475" cy="2038350"/>
          </a:xfrm>
          <a:prstGeom prst="roundRect">
            <a:avLst>
              <a:gd name="adj" fmla="val 560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371975"/>
            <a:ext cx="1876425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72250" y="4371975"/>
            <a:ext cx="161925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04 • STEP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Fine Blend Search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62300"/>
            <a:ext cx="5869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CONVENTIONAL PITFALL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09950"/>
            <a:ext cx="616327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lus Jakarta Sans"/>
              </a:rPr>
              <a:t>Arbitrary 50 / 50 Averaging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0950"/>
            <a:ext cx="4791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Equal weighting fails to account for model variance differentials and can dilute the stronger predictor's signal.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4410075"/>
            <a:ext cx="1781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Plus Jakarta Sans"/>
              </a:rPr>
              <a:t>Sub-Optimal Generalization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3162300"/>
            <a:ext cx="561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3409950"/>
            <a:ext cx="56197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lus Jakarta Sans"/>
              </a:rPr>
              <a:t>Fine Grid Blend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3790950"/>
            <a:ext cx="4791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Systematically scanned weight combinations across OOF probabilities to find the exact loss minimum.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4410075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Empirically Proven Ratio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4156"/>
            <a:ext cx="5314950" cy="2185987"/>
          </a:xfrm>
          <a:prstGeom prst="roundRect">
            <a:avLst>
              <a:gd name="adj" fmla="val 52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881312"/>
            <a:ext cx="5314950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04 • STEP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Active Depth Tuning &amp; Production Finalization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78956"/>
            <a:ext cx="5881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CURRENT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6131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CatBoost Tree Depth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88556"/>
            <a:ext cx="48006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Evaluating depths 4 through 8 across cross-validation splits to find the ideal trade-off between expressive interaction modeling and variance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3893"/>
            <a:ext cx="588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Guards against leaderboard overfitting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186112"/>
            <a:ext cx="5619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JetBrains Mono"/>
              </a:rPr>
              <a:t>FINAL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3443287"/>
            <a:ext cx="5619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Full-Train Retraining &amp;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3795712"/>
            <a:ext cx="4800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Lock optimal hyperparameters, re-fit ensemble models across all 21,000 training rows, and generate final test submission predictions.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4376737"/>
            <a:ext cx="561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Zero data left on the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38462" y="4324350"/>
            <a:ext cx="6315075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38462" y="4324350"/>
            <a:ext cx="63150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08597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200275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462" y="4629150"/>
            <a:ext cx="11430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612" y="4629150"/>
            <a:ext cx="1143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587" y="4629150"/>
            <a:ext cx="1143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48187" y="2733675"/>
            <a:ext cx="309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TEAM MULTIVERSE OF MADNESS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92" y="3019425"/>
            <a:ext cx="8519814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F8FAFC"/>
                </a:solidFill>
                <a:latin typeface="Plus Jakarta Sans"/>
              </a:rPr>
              <a:t>Questions &amp; Technical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4515" y="3724275"/>
            <a:ext cx="470296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Presented by Gurukiran K N &amp; Girish Gowda G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431" y="4600575"/>
            <a:ext cx="2500312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Systematic 15-Step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3728" y="4600575"/>
            <a:ext cx="2178843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Leakage-Free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1843" y="4600575"/>
            <a:ext cx="2357437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Empirically Validated Blend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